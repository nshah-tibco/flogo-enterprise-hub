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FD4D1"/>
                </a:solidFill>
                <a:latin typeface="Segoe UI"/>
              </a:rPr>
              <a:t>AGENTIC AI USE CASE · TIBCO FLOGO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Retail Banking
Self-Service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7E3"/>
                </a:solidFill>
                <a:latin typeface="Segoe UI"/>
              </a:rPr>
              <a:t>A conversational AI that lets a bank customer check balances, transactions, cards &amp; loans — and safely dispute a charge or block a card — all in natural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AI Orchestrator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52120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MCP · 7 read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52120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A2A · 3 write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52120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B6C6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9FB6C6"/>
                </a:solidFill>
                <a:latin typeface="Segoe U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FB6C6"/>
                </a:solidFill>
                <a:latin typeface="Segoe UI"/>
              </a:rPr>
              <a:t>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The problem we automate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566160" cy="6400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1E2E"/>
                </a:solidFill>
                <a:latin typeface="Segoe UI"/>
              </a:rPr>
              <a:t>Call-center 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004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7B"/>
                </a:solidFill>
                <a:latin typeface="Segoe UI"/>
              </a:rPr>
              <a:t>Routine questions and low-risk actions (dispute, block card) tie up agents and leave customers on 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66160" cy="6400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1214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WITH THIS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4871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1E2E"/>
                </a:solidFill>
                <a:latin typeface="Segoe UI"/>
              </a:rPr>
              <a:t>Self-service in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2004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7B"/>
                </a:solidFill>
                <a:latin typeface="Segoe UI"/>
              </a:rPr>
              <a:t>The customer asks in plain English. The AI answers from live data and performs confirmed actions instantly, 24/7.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356616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1214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4871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F1E2E"/>
                </a:solidFill>
                <a:latin typeface="Segoe UI"/>
              </a:rPr>
              <a:t>Faster + safer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2004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7B"/>
                </a:solidFill>
                <a:latin typeface="Segoe UI"/>
              </a:rPr>
              <a:t>Reads are instant &amp; stateless; every write is confirmed, bounded, and auditable. Risky requests are declined.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WHAT THE CUSTOMER CAN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9496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031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Ask &amp; look up  (read-only)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Account balances &amp; details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Recent transactions &amp; a specific charge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Debit / credit card details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Loan balance, EMI, rate, next due date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Branch / ATM locations &amp; hours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600" b="0">
                <a:solidFill>
                  <a:srgbClr val="0F1E2E"/>
                </a:solidFill>
                <a:latin typeface="Segoe UI"/>
              </a:rPr>
              <a:t>Status of an existing dispute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94960" cy="640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Take action  (state-changing)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■  </a:t>
            </a:r>
            <a:r>
              <a:rPr sz="1600" b="1">
                <a:solidFill>
                  <a:srgbClr val="0F1E2E"/>
                </a:solidFill>
                <a:latin typeface="Segoe UI"/>
              </a:rPr>
              <a:t>Dispute a transaction</a:t>
            </a:r>
            <a:r>
              <a:rPr sz="1600" b="0">
                <a:solidFill>
                  <a:srgbClr val="0F1E2E"/>
                </a:solidFill>
                <a:latin typeface="Segoe UI"/>
              </a:rPr>
              <a:t> they don’t recognize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■  </a:t>
            </a:r>
            <a:r>
              <a:rPr sz="1600" b="1">
                <a:solidFill>
                  <a:srgbClr val="0F1E2E"/>
                </a:solidFill>
                <a:latin typeface="Segoe UI"/>
              </a:rPr>
              <a:t>Block</a:t>
            </a:r>
            <a:r>
              <a:rPr sz="1600" b="0">
                <a:solidFill>
                  <a:srgbClr val="0F1E2E"/>
                </a:solidFill>
                <a:latin typeface="Segoe UI"/>
              </a:rPr>
              <a:t> a lost / stolen / compromised card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■  </a:t>
            </a:r>
            <a:r>
              <a:rPr sz="1600" b="1">
                <a:solidFill>
                  <a:srgbClr val="0F1E2E"/>
                </a:solidFill>
                <a:latin typeface="Segoe UI"/>
              </a:rPr>
              <a:t>Email</a:t>
            </a:r>
            <a:r>
              <a:rPr sz="1600" b="0">
                <a:solidFill>
                  <a:srgbClr val="0F1E2E"/>
                </a:solidFill>
                <a:latin typeface="Segoe UI"/>
              </a:rPr>
              <a:t> a confirmation of what was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E2E"/>
                </a:solidFill>
                <a:latin typeface="Segoe UI"/>
              </a:rPr>
              <a:t>Out of scope (declined): </a:t>
            </a:r>
            <a:r>
              <a:rPr sz="1500" b="0">
                <a:solidFill>
                  <a:srgbClr val="5B6B7B"/>
                </a:solidFill>
                <a:latin typeface="Segoe UI"/>
              </a:rPr>
              <a:t>loan approvals, investment/tax advice, opening/closing accounts, external wires.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HOW IT FITS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Architecture — the 3-app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Agentic Chatbot UI</a:t>
            </a:r>
          </a:p>
          <a:p>
            <a:pPr algn="ctr"/>
            <a:r>
              <a:rPr sz="1100" b="0">
                <a:solidFill>
                  <a:srgbClr val="EAF7EF"/>
                </a:solidFill>
                <a:latin typeface="Segoe UI"/>
              </a:rPr>
              <a:t>browser · demos/Agentic_AI/Chatbot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743200"/>
            <a:ext cx="3749039" cy="9144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BankingAIOrchestrator</a:t>
            </a:r>
          </a:p>
          <a:p>
            <a:pPr algn="ctr"/>
            <a:r>
              <a:rPr sz="1150" b="0">
                <a:solidFill>
                  <a:srgbClr val="E7E7FF"/>
                </a:solidFill>
                <a:latin typeface="Segoe UI"/>
              </a:rPr>
              <a:t>#wsserver → AI Agent → reply</a:t>
            </a:r>
          </a:p>
          <a:p>
            <a:pPr algn="ctr"/>
            <a:r>
              <a:rPr sz="1150" b="0">
                <a:solidFill>
                  <a:srgbClr val="E7E7FF"/>
                </a:solidFill>
                <a:latin typeface="Segoe UI"/>
              </a:rPr>
              <a:t>intent routing · confirm before writes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0EA5A4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BankingMCPServer</a:t>
            </a:r>
          </a:p>
          <a:p>
            <a:pPr algn="ctr"/>
            <a:r>
              <a:rPr sz="1200" b="0">
                <a:solidFill>
                  <a:srgbClr val="E6FAFA"/>
                </a:solidFill>
                <a:latin typeface="Segoe UI"/>
              </a:rPr>
              <a:t>7 read-only tools</a:t>
            </a:r>
          </a:p>
          <a:p>
            <a:pPr algn="ctr"/>
            <a:r>
              <a:rPr sz="1150" b="0">
                <a:solidFill>
                  <a:srgbClr val="E6FAFA"/>
                </a:solidFill>
                <a:latin typeface="Segoe UI"/>
              </a:rPr>
              <a:t>accounts · txns · cards · loans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29768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BankingA2AServers</a:t>
            </a:r>
          </a:p>
          <a:p>
            <a:pPr algn="ctr"/>
            <a:r>
              <a:rPr sz="1200" b="0">
                <a:solidFill>
                  <a:srgbClr val="FFF3DE"/>
                </a:solidFill>
                <a:latin typeface="Segoe UI"/>
              </a:rPr>
              <a:t>dispute · block-card · email</a:t>
            </a:r>
          </a:p>
          <a:p>
            <a:pPr algn="ctr"/>
            <a:r>
              <a:rPr sz="1150" b="0">
                <a:solidFill>
                  <a:srgbClr val="FFF3DE"/>
                </a:solidFill>
                <a:latin typeface="Segoe UI"/>
              </a:rPr>
              <a:t>write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715000"/>
            <a:ext cx="3749039" cy="64008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PostgreSQL — database “banking” · 7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69748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A855F7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OpenAI LLM</a:t>
            </a:r>
          </a:p>
          <a:p>
            <a:pPr algn="ctr"/>
            <a:r>
              <a:rPr sz="1100" b="0">
                <a:solidFill>
                  <a:srgbClr val="F3E8FF"/>
                </a:solidFill>
                <a:latin typeface="Segoe UI"/>
              </a:rPr>
              <a:t>gpt-5.5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443484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A855F7"/>
          </a:solidFill>
          <a:ln>
            <a:noFill/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SMTP</a:t>
            </a:r>
          </a:p>
          <a:p>
            <a:pPr algn="ctr"/>
            <a:r>
              <a:rPr sz="1050" b="0">
                <a:solidFill>
                  <a:srgbClr val="F3E8FF"/>
                </a:solidFill>
                <a:latin typeface="Segoe UI"/>
              </a:rPr>
              <a:t>Gmail SSL:465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286000"/>
            <a:ext cx="9525" cy="45720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34640" y="3657600"/>
            <a:ext cx="2286000" cy="64008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3657600"/>
            <a:ext cx="2286000" cy="64008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7440" y="5257800"/>
            <a:ext cx="2377440" cy="45720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315200" y="5257800"/>
            <a:ext cx="2377440" cy="45720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663440"/>
            <a:ext cx="640080" cy="45720"/>
          </a:xfrm>
          <a:prstGeom prst="line">
            <a:avLst/>
          </a:prstGeom>
          <a:ln w="27940">
            <a:solidFill>
              <a:srgbClr val="4158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55279" y="2971800"/>
            <a:ext cx="2377441" cy="91440"/>
          </a:xfrm>
          <a:prstGeom prst="line">
            <a:avLst/>
          </a:prstGeom>
          <a:ln w="27940">
            <a:solidFill>
              <a:srgbClr val="A855F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881360" y="3383280"/>
            <a:ext cx="182880" cy="1051560"/>
          </a:xfrm>
          <a:prstGeom prst="line">
            <a:avLst/>
          </a:prstGeom>
          <a:ln w="27940">
            <a:solidFill>
              <a:srgbClr val="A855F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0" y="23317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3455A"/>
                </a:solidFill>
                <a:latin typeface="Segoe UI"/>
              </a:rPr>
              <a:t>WebSocket · ws://localhost:8088/banking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673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3455A"/>
                </a:solidFill>
                <a:latin typeface="Segoe UI"/>
              </a:rPr>
              <a:t>MCP (HTTP) :9096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67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33455A"/>
                </a:solidFill>
                <a:latin typeface="Segoe UI"/>
              </a:rPr>
              <a:t>A2A :8710-8712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DESIGN PRINCIPLE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Why three separate apps?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56616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031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E2E"/>
                </a:solidFill>
                <a:latin typeface="Segoe UI"/>
              </a:rPr>
              <a:t>Reads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Stateless lookups, safe to retry. The LLM picks a tool by intent and filters rows. No side effects.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66160" cy="640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82312" y="21031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A2A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E2E"/>
                </a:solidFill>
                <a:latin typeface="Segoe UI"/>
              </a:rPr>
              <a:t>Writes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Each state-changing action is its own agent with its own guardrails, port, and deploy/scale lifecycle.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3566160" cy="6400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7072" y="21031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E2E"/>
                </a:solidFill>
                <a:latin typeface="Segoe UI"/>
              </a:rPr>
              <a:t>The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WebSocket chat. Classifies intent, calls read tools or hands off to write agents, keeps memory, enforces scope.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F1E2E"/>
                </a:solidFill>
                <a:latin typeface="Segoe UI"/>
              </a:rPr>
              <a:t>Separation of read vs. write is the core safety property: </a:t>
            </a:r>
            <a:r>
              <a:rPr sz="1800" b="1">
                <a:solidFill>
                  <a:srgbClr val="0F1E2E"/>
                </a:solidFill>
                <a:latin typeface="Segoe UI"/>
              </a:rPr>
              <a:t>reads can’t mutate; writes are explicit, confirmed, and independently governable.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BANKINGMCPSERVER · PORT 9096 · /RETAIL-BANKING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MCP Server — 7 read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698480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5120640"/>
                <a:gridCol w="26517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GetCustomerProfile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name, phone, email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customers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GetAccounts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type, balance, currency, status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accounts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GetTransactions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date, merchant, amount, type, status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GetCards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masked no., type, network, status, expiry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cards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GetLoans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type, outstanding, rate, EMI, next due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loans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GetDisputes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txn, reason, status, est. resolution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disputes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GetBranches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name, address, city, phone, hours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branches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Each tool is a tiny flow:  </a:t>
            </a:r>
            <a:r>
              <a:rPr sz="1500" b="1">
                <a:solidFill>
                  <a:srgbClr val="0B6B6A"/>
                </a:solidFill>
                <a:latin typeface="Segoe UI"/>
              </a:rPr>
              <a:t>#noop → #query (SELECT *) → #actreturn</a:t>
            </a:r>
            <a:r>
              <a:rPr sz="1500" b="0">
                <a:solidFill>
                  <a:srgbClr val="5B6B7B"/>
                </a:solidFill>
                <a:latin typeface="Segoe UI"/>
              </a:rPr>
              <a:t>   — rich descriptions let the LLM choose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BANKINGA2ASERVERS · PORTS 8710 · 8711 · 8712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A2A Servers — 3 write agents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69848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1005840"/>
                <a:gridCol w="65836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Workflow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dispute_transaction_agent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8710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validate the transaction (#query) → INSERT a dispute (OPEN, +7 business days)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block_card_agent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8711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UPDATE the card → status = BLOCKED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send_confirmation_email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8712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#sendmail → one confirmation email (Gmail SSL:465)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062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38328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46227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8280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E2E"/>
                </a:solidFill>
                <a:latin typeface="Segoe UI"/>
              </a:rPr>
              <a:t>Confirm before every 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062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4206240"/>
            <a:ext cx="338328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446227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BOUNDED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8280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E2E"/>
                </a:solidFill>
                <a:latin typeface="Segoe UI"/>
              </a:rPr>
              <a:t>Max 3 attempts per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062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38328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46227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EMAIL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8280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E2E"/>
                </a:solidFill>
                <a:latin typeface="Segoe UI"/>
              </a:rPr>
              <a:t>Sent once, last, only if 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BANKINGAIORCHESTRATOR · WEBSOCKET 8088 · /BANKING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Orchestrator — intent routing &amp;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94960" cy="6400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ROUTING LOGIC (SYSTEM 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Identify customer by </a:t>
            </a:r>
            <a:r>
              <a:rPr sz="1550" b="1">
                <a:solidFill>
                  <a:srgbClr val="0F1E2E"/>
                </a:solidFill>
                <a:latin typeface="Segoe UI"/>
              </a:rPr>
              <a:t>CUST-2026-NNNNN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Balance / cards / loans / branch → </a:t>
            </a:r>
            <a:r>
              <a:rPr sz="1550" b="1">
                <a:solidFill>
                  <a:srgbClr val="0F1E2E"/>
                </a:solidFill>
                <a:latin typeface="Segoe UI"/>
              </a:rPr>
              <a:t>MCP tool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“Don’t recognize this charge” → </a:t>
            </a:r>
            <a:r>
              <a:rPr sz="1550" b="1">
                <a:solidFill>
                  <a:srgbClr val="0F1E2E"/>
                </a:solidFill>
                <a:latin typeface="Segoe UI"/>
              </a:rPr>
              <a:t>dispute agent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“Lost / stolen card” → </a:t>
            </a:r>
            <a:r>
              <a:rPr sz="1550" b="1">
                <a:solidFill>
                  <a:srgbClr val="0F1E2E"/>
                </a:solidFill>
                <a:latin typeface="Segoe UI"/>
              </a:rPr>
              <a:t>block-card agent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“Email me” → </a:t>
            </a:r>
            <a:r>
              <a:rPr sz="1550" b="1">
                <a:solidFill>
                  <a:srgbClr val="0F1E2E"/>
                </a:solidFill>
                <a:latin typeface="Segoe UI"/>
              </a:rPr>
              <a:t>email agent (once, last)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9496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SAFETY &amp;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Confirm before any write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Reveal only the requesting customer’s data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Session memory for multi-turn chat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Decline out-of-scope requests politely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EA5A4"/>
                </a:solidFill>
                <a:latin typeface="Segoe UI"/>
              </a:rPr>
              <a:t>■  </a:t>
            </a:r>
            <a:r>
              <a:rPr sz="1550" b="0">
                <a:solidFill>
                  <a:srgbClr val="0F1E2E"/>
                </a:solidFill>
                <a:latin typeface="Segoe UI"/>
              </a:rPr>
              <a:t>Report partial results on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7B"/>
                </a:solidFill>
                <a:latin typeface="Segoe UI"/>
              </a:rPr>
              <a:t>Flow:  </a:t>
            </a:r>
            <a:r>
              <a:rPr sz="1500" b="1">
                <a:solidFill>
                  <a:srgbClr val="0B6B6A"/>
                </a:solidFill>
                <a:latin typeface="Segoe UI"/>
              </a:rPr>
              <a:t>#wsserver → #agentactivity (MCP + 3 A2A wired in) → #wswritedata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POSTGRESQL · DATABASE “BANKING”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Data model — 7 tables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4846320"/>
                <a:gridCol w="32918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Accessed by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customers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master record, keyed by customer_id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profile · email recipient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accounts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checking / savings / credit balances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GetAccounts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history + the disputable charge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GetTransactions · dispute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cards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debit / credit cards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GetCards · block (UPDATE)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loans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home / auto / personal loans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GetLoans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disputes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filed disputes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GetDisputes · file (INSERT)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branches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branch / ATM reference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GetBranches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321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A5A4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5321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A5A4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6172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5321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A5A4"/>
                </a:solidFill>
                <a:latin typeface="Segoe U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6172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5321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A5A4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6172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pre-seeded dispute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4D1"/>
                </a:solidFill>
                <a:latin typeface="Segoe UI"/>
              </a:rPr>
              <a:t>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Walkthrough — “Dispute my $249.99 charge, then email me”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11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Customer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“I don’t recognize a $249.99 QUICKPAY charge”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9933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2011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48716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GetTransactions → finds TXN-50003, asks to confirm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19933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2011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Customer confirms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48716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“Yes, dispute it”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3520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3685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3703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dispute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1788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INSERT dispute DSP-… · status OPEN · +7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3520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685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703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email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1788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sends ONE confirmation (only because asked)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204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685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D4D1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03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Reply streamed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78808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CD4E2"/>
                </a:solidFill>
                <a:latin typeface="Segoe UI"/>
              </a:rPr>
              <a:t>summary back over the WebSocket to the chat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51960" y="2514600"/>
            <a:ext cx="256032" cy="9525"/>
          </a:xfrm>
          <a:prstGeom prst="line">
            <a:avLst/>
          </a:prstGeom>
          <a:ln w="25400">
            <a:solidFill>
              <a:srgbClr val="7FD4D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28432" y="2514600"/>
            <a:ext cx="256032" cy="9525"/>
          </a:xfrm>
          <a:prstGeom prst="line">
            <a:avLst/>
          </a:prstGeom>
          <a:ln w="25400">
            <a:solidFill>
              <a:srgbClr val="7FD4D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44684" y="3200400"/>
            <a:ext cx="9525" cy="320040"/>
          </a:xfrm>
          <a:prstGeom prst="line">
            <a:avLst/>
          </a:prstGeom>
          <a:ln w="25400">
            <a:solidFill>
              <a:srgbClr val="7FD4D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028432" y="4206240"/>
            <a:ext cx="256032" cy="9525"/>
          </a:xfrm>
          <a:prstGeom prst="line">
            <a:avLst/>
          </a:prstGeom>
          <a:ln w="25400">
            <a:solidFill>
              <a:srgbClr val="7FD4D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251960" y="4206240"/>
            <a:ext cx="256032" cy="9525"/>
          </a:xfrm>
          <a:prstGeom prst="line">
            <a:avLst/>
          </a:prstGeom>
          <a:ln w="25400">
            <a:solidFill>
              <a:srgbClr val="7FD4D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806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7D7E3"/>
                </a:solidFill>
                <a:latin typeface="Segoe UI"/>
              </a:rPr>
              <a:t>Reads gather context → the customer confirms → a single write fires → one email → streamed reply.  </a:t>
            </a:r>
            <a:r>
              <a:rPr sz="1500" b="1">
                <a:solidFill>
                  <a:srgbClr val="FFFFFF"/>
                </a:solidFill>
                <a:latin typeface="Segoe UI"/>
              </a:rPr>
              <a:t>Nothing is written without confirmation.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B6C6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9FB6C6"/>
                </a:solidFill>
                <a:latin typeface="Segoe UI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FB6C6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A5A4"/>
                </a:solidFill>
                <a:latin typeface="Segoe UI"/>
              </a:rPr>
              <a:t>DEPLOY &amp;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78408"/>
            <a:ext cx="457200" cy="91440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E2E"/>
                </a:solidFill>
                <a:latin typeface="Segoe UI"/>
              </a:rPr>
              <a:t>Ports &amp; start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94960" cy="64008"/>
          </a:xfrm>
          <a:prstGeom prst="round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ENDPOINTS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2514600"/>
          <a:ext cx="47548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Port / path</a:t>
                      </a:r>
                    </a:p>
                  </a:txBody>
                  <a:tcPr marL="101600" marR="76200" marT="38100" marB="38100" anchor="ctr">
                    <a:solidFill>
                      <a:srgbClr val="0B20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MCP Server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9096 · /retail-banking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A2A — dispute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8710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A2A — block card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8711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A2A — email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8712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Orchestrator (WS)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F1E2E"/>
                          </a:solidFill>
                          <a:latin typeface="Segoe UI"/>
                        </a:rPr>
                        <a:t>8088 · /banking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182880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94960" cy="6400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B6B7B"/>
                </a:solidFill>
                <a:latin typeface="Segoe UI"/>
              </a:rPr>
              <a:t>START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1">
                <a:solidFill>
                  <a:srgbClr val="0F1E2E"/>
                </a:solidFill>
                <a:latin typeface="Segoe UI"/>
              </a:rPr>
              <a:t>1.  Load DB — </a:t>
            </a:r>
            <a:r>
              <a:rPr sz="1550" b="0">
                <a:solidFill>
                  <a:srgbClr val="0F1E2E"/>
                </a:solidFill>
                <a:latin typeface="Segoe UI"/>
              </a:rPr>
              <a:t>database.sql, then reset_data.sql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1">
                <a:solidFill>
                  <a:srgbClr val="0F1E2E"/>
                </a:solidFill>
                <a:latin typeface="Segoe UI"/>
              </a:rPr>
              <a:t>2.  Start MCP · 9096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1">
                <a:solidFill>
                  <a:srgbClr val="0F1E2E"/>
                </a:solidFill>
                <a:latin typeface="Segoe UI"/>
              </a:rPr>
              <a:t>3.  Start A2A · 8710-8712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1">
                <a:solidFill>
                  <a:srgbClr val="0F1E2E"/>
                </a:solidFill>
                <a:latin typeface="Segoe UI"/>
              </a:rPr>
              <a:t>4.  Start Orchestrator · 8088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■  </a:t>
            </a:r>
            <a:r>
              <a:rPr sz="1550" b="1">
                <a:solidFill>
                  <a:srgbClr val="0F1E2E"/>
                </a:solidFill>
                <a:latin typeface="Segoe UI"/>
              </a:rPr>
              <a:t>5.  Connect chatbot → </a:t>
            </a:r>
            <a:r>
              <a:rPr sz="1550" b="0">
                <a:solidFill>
                  <a:srgbClr val="0F1E2E"/>
                </a:solidFill>
                <a:latin typeface="Segoe UI"/>
              </a:rPr>
              <a:t>ws://localhost:8088/banking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7B"/>
                </a:solidFill>
                <a:latin typeface="Segoe UI"/>
              </a:rPr>
              <a:t>Reuses existing OpenAI / PostgreSQL / SMTP connections; only the DB name changes to “banking”.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6B7B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5B6B7B"/>
                </a:solidFill>
                <a:latin typeface="Segoe U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Retail Banking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FD4D1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One pattern, any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7D7E3"/>
                </a:solidFill>
                <a:latin typeface="Segoe UI"/>
              </a:rPr>
              <a:t>Reads as MCP tools, writes as A2A agents, a WebSocket orchestrator as the brain — the same shape powers Hospital, Telecom, and now Retail Banking.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069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4D1"/>
                </a:solidFill>
                <a:latin typeface="Segoe UI"/>
              </a:rPr>
              <a:t>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480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7E6EF"/>
                </a:solidFill>
                <a:latin typeface="Segoe UI"/>
              </a:rPr>
              <a:t>Reads can’t mutate; writes are confirmed, bounded,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8404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4069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4D1"/>
                </a:solidFill>
                <a:latin typeface="Segoe UI"/>
              </a:rPr>
              <a:t>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4480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7E6EF"/>
                </a:solidFill>
                <a:latin typeface="Segoe UI"/>
              </a:rPr>
              <a:t>Each capability deploys &amp; scales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8404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E2C46"/>
          </a:solidFill>
          <a:ln w="12700">
            <a:solidFill>
              <a:srgbClr val="123A5E"/>
            </a:solidFill>
          </a:ln>
          <a:effectLst/>
          <a:effectLst>
            <a:outerShdw blurRad="90000" dist="40000" dir="5400000" rotWithShape="0">
              <a:srgbClr val="0F1E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4069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FD4D1"/>
                </a:solidFill>
                <a:latin typeface="Segoe UI"/>
              </a:rPr>
              <a:t>EXTENSIBLE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480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7E6EF"/>
                </a:solidFill>
                <a:latin typeface="Segoe UI"/>
              </a:rPr>
              <a:t>Add a tool or an agent without touching the 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D8D5"/>
                </a:solidFill>
                <a:latin typeface="Segoe UI"/>
              </a:rPr>
              <a:t>demos/Agentic_AI/Retail_Banking_Assistant_Use_Case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B6C6"/>
                </a:solidFill>
                <a:latin typeface="Segoe UI"/>
              </a:rPr>
              <a:t>FLOGO</a:t>
            </a:r>
            <a:r>
              <a:rPr sz="1300" b="1">
                <a:solidFill>
                  <a:srgbClr val="0EA5A4"/>
                </a:solidFill>
                <a:latin typeface="Segoe UI"/>
              </a:rPr>
              <a:t>·</a:t>
            </a:r>
            <a:r>
              <a:rPr sz="1300" b="1">
                <a:solidFill>
                  <a:srgbClr val="9FB6C6"/>
                </a:solidFill>
                <a:latin typeface="Segoe U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190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FB6C6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